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79" r:id="rId8"/>
    <p:sldId id="280" r:id="rId9"/>
    <p:sldId id="261" r:id="rId10"/>
    <p:sldId id="274" r:id="rId11"/>
    <p:sldId id="275" r:id="rId12"/>
    <p:sldId id="262" r:id="rId13"/>
    <p:sldId id="281" r:id="rId14"/>
    <p:sldId id="264" r:id="rId15"/>
    <p:sldId id="282" r:id="rId16"/>
    <p:sldId id="266" r:id="rId17"/>
    <p:sldId id="267" r:id="rId18"/>
    <p:sldId id="268" r:id="rId19"/>
    <p:sldId id="269" r:id="rId20"/>
    <p:sldId id="283" r:id="rId21"/>
    <p:sldId id="284" r:id="rId22"/>
    <p:sldId id="285" r:id="rId23"/>
    <p:sldId id="286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589D58-7FB9-D693-B84F-264F9187ADB7}" v="189" dt="2026-09-03T00:39:05.80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1" d="100"/>
          <a:sy n="71" d="100"/>
        </p:scale>
        <p:origin x="43" y="20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 and dashboard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 and Looker Studio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 and Looker Studio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 and Looker Studio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survey_data_updated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>
                <a:latin typeface="IBM Plex Sans SemiBold"/>
              </a:rPr>
              <a:t>IBM Capstone Project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/>
              </a:rPr>
              <a:t>Bijaya Basnet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/>
              </a:rPr>
              <a:t>09/02/2026</a:t>
            </a:r>
            <a:endParaRPr lang="en-US" dirty="0">
              <a:solidFill>
                <a:schemeClr val="bg1">
                  <a:lumMod val="75000"/>
                </a:schemeClr>
              </a:solidFill>
              <a:latin typeface="IBM Plex Mono Medium" panose="020B0609050203000203" pitchFamily="49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IBM Plex Sans"/>
              </a:rPr>
              <a:t>The analysis examined 18,845 Stack Overflow survey responses. </a:t>
            </a:r>
            <a:endParaRPr lang="en-US" dirty="0"/>
          </a:p>
          <a:p>
            <a:r>
              <a:rPr lang="en-US" sz="2200" dirty="0">
                <a:latin typeface="IBM Plex Sans"/>
              </a:rPr>
              <a:t>Established technologies dominate current usage: 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US" sz="1800" dirty="0">
                <a:latin typeface="IBM Plex Sans"/>
              </a:rPr>
              <a:t>JavaScript is the most-used language.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800" dirty="0">
                <a:latin typeface="IBM Plex Sans"/>
              </a:rPr>
              <a:t>PostgreSQL is the leading database.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sz="1800" dirty="0">
                <a:latin typeface="IBM Plex Sans"/>
              </a:rPr>
              <a:t>AWS is the most-used cloud platform. </a:t>
            </a:r>
            <a:endParaRPr lang="en-US" sz="1800"/>
          </a:p>
          <a:p>
            <a:r>
              <a:rPr lang="en-US" sz="2200" dirty="0">
                <a:latin typeface="IBM Plex Sans"/>
              </a:rPr>
              <a:t>Future preferences favor TypeScript, Go, Rust, Redis, and modern frameworks. </a:t>
            </a:r>
            <a:endParaRPr lang="en-US" dirty="0"/>
          </a:p>
          <a:p>
            <a:r>
              <a:rPr lang="en-US" sz="2200" dirty="0">
                <a:latin typeface="IBM Plex Sans"/>
              </a:rPr>
              <a:t>Approximately 68.6% of respondents are between 25 and 44 years old. </a:t>
            </a:r>
            <a:endParaRPr lang="en-US" dirty="0"/>
          </a:p>
          <a:p>
            <a:r>
              <a:rPr lang="en-US" sz="2200" dirty="0">
                <a:latin typeface="IBM Plex Sans"/>
              </a:rPr>
              <a:t>Bachelor’s and master’s degree holders represent approximately 72.3% of respondents.</a:t>
            </a:r>
            <a:endParaRPr lang="en-US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t>INTRODUCTION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>
            <a:spLocks noGrp="1"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/>
                <a:ea typeface="IBM Plex Mono Text"/>
                <a:cs typeface="IBM Plex Mono Tex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2400">
                <a:solidFill>
                  <a:schemeClr val="bg1">
                    <a:lumMod val="75000"/>
                  </a:schemeClr>
                </a:solidFill>
              </a:rPr>
              <a:t>Purpose</a:t>
            </a:r>
            <a:endParaRPr sz="2200">
              <a:solidFill>
                <a:schemeClr val="bg1">
                  <a:lumMod val="75000"/>
                </a:schemeClr>
              </a:solidFill>
            </a:endParaRPr>
          </a:p>
          <a:p>
            <a:r>
              <a:rPr sz="2200">
                <a:solidFill>
                  <a:schemeClr val="tx1"/>
                </a:solidFill>
              </a:rPr>
              <a:t>Identify the technologies developers use today and want to use next year.</a:t>
            </a:r>
          </a:p>
          <a:p>
            <a:endParaRPr sz="2200">
              <a:solidFill>
                <a:schemeClr val="tx1"/>
              </a:solidFill>
            </a:endParaRPr>
          </a:p>
          <a:p>
            <a:r>
              <a:rPr sz="2200">
                <a:solidFill>
                  <a:schemeClr val="tx1"/>
                </a:solidFill>
              </a:rPr>
              <a:t>Audience</a:t>
            </a:r>
          </a:p>
          <a:p>
            <a:r>
              <a:rPr sz="2200">
                <a:solidFill>
                  <a:schemeClr val="tx1"/>
                </a:solidFill>
              </a:rPr>
              <a:t>Technology learners, employers, and workforce planners.</a:t>
            </a:r>
          </a:p>
          <a:p>
            <a:pPr lvl="1">
              <a:buNone/>
            </a:pPr>
            <a:endParaRPr sz="2200">
              <a:solidFill>
                <a:schemeClr val="tx1"/>
              </a:solidFill>
            </a:endParaRPr>
          </a:p>
          <a:p>
            <a:pPr lvl="1">
              <a:buNone/>
            </a:pPr>
            <a:r>
              <a:rPr sz="1800">
                <a:solidFill>
                  <a:schemeClr val="tx1"/>
                </a:solidFill>
              </a:rPr>
              <a:t>Value</a:t>
            </a:r>
          </a:p>
          <a:p>
            <a:pPr lvl="1">
              <a:buNone/>
            </a:pPr>
            <a:r>
              <a:rPr sz="1800">
                <a:solidFill>
                  <a:schemeClr val="tx1"/>
                </a:solidFill>
              </a:rPr>
              <a:t>The results highlight durable core skills and emerging technologies that may influence training and hiring priorities.</a:t>
            </a:r>
          </a:p>
        </p:txBody>
      </p:sp>
    </p:spTree>
    <p:extLst>
      <p:ext uri="{BB962C8B-B14F-4D97-AF65-F5344CB8AC3E}">
        <p14:creationId xmlns:p14="http://schemas.microsoft.com/office/powerpoint/2010/main" val="85733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>
            <a:spLocks noGrp="1"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</a:pPr>
            <a:r>
              <a:rPr sz="2200"/>
              <a:t>• Source: 2024 Stack Overflow Developer Survey dataset</a:t>
            </a:r>
          </a:p>
          <a:p>
            <a:r>
              <a:rPr sz="2200"/>
              <a:t>• Records analyzed: 18,845 respondents</a:t>
            </a:r>
          </a:p>
          <a:p>
            <a:r>
              <a:rPr sz="2200"/>
              <a:t>• Multi-select technology fields were separated at semicolons</a:t>
            </a:r>
          </a:p>
          <a:p>
            <a:r>
              <a:rPr sz="2200"/>
              <a:t>• Each technology was counted by respondent</a:t>
            </a:r>
          </a:p>
          <a:p>
            <a:r>
              <a:rPr sz="2200"/>
              <a:t>• Top 10 values were ranked for current and desired use</a:t>
            </a:r>
          </a:p>
          <a:p>
            <a:pPr lvl="1">
              <a:buNone/>
            </a:pPr>
            <a:r>
              <a:rPr sz="2200"/>
              <a:t>• Null values were excluded where necessary</a:t>
            </a:r>
          </a:p>
          <a:p>
            <a:pPr lvl="1">
              <a:buNone/>
            </a:pPr>
            <a:r>
              <a:rPr sz="2200"/>
              <a:t>• Dashboards were built in Google Looker Studio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73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t>RESULTS</a:t>
            </a:r>
          </a:p>
        </p:txBody>
      </p:sp>
      <p:pic>
        <p:nvPicPr>
          <p:cNvPr id="11" name="Graphic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>
            <a:spLocks noGrp="1"/>
          </p:cNvSpPr>
          <p:nvPr/>
        </p:nvSpPr>
        <p:spPr>
          <a:xfrm>
            <a:off x="3818965" y="3126000"/>
            <a:ext cx="7413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sz="2400"/>
              <a:t>Current usage, future preferences, and demographics reveal a stable core technology stack with selective interest in newer tools.</a:t>
            </a:r>
          </a:p>
        </p:txBody>
      </p:sp>
    </p:spTree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latin typeface="IBM Plex Sans"/>
              </a:rPr>
              <a:t>In Module 1 you have collected the job posting data using Job API in a file named “</a:t>
            </a:r>
            <a:r>
              <a:rPr lang="en-IN" sz="1000" dirty="0">
                <a:latin typeface="IBM Plex Sans"/>
              </a:rPr>
              <a:t>job-postings.xlsx</a:t>
            </a:r>
            <a:r>
              <a:rPr lang="en-US" sz="1000" dirty="0">
                <a:latin typeface="IBM Plex Sans"/>
              </a:rPr>
              <a:t>”. Present that data using a bar chart here. Order the bar chart in the descending order of the number of job postings.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15D72-4EB9-3D14-C983-1DB3A27FF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523" y="2809875"/>
            <a:ext cx="4959759" cy="29834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000" dirty="0">
                <a:latin typeface="IBM Plex Sans"/>
              </a:rPr>
              <a:t>In Module 1 you have collected the job postings data using web scraping in a file named “</a:t>
            </a:r>
            <a:r>
              <a:rPr lang="en-IN" sz="1000" dirty="0">
                <a:latin typeface="IBM Plex Sans"/>
              </a:rPr>
              <a:t>popular-languages.csv</a:t>
            </a:r>
            <a:r>
              <a:rPr lang="en-US" sz="1000" dirty="0">
                <a:latin typeface="IBM Plex Sans"/>
              </a:rPr>
              <a:t>”. Present that data using a bar chart here. Order the bar chart in the descending order of salary.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0FE6E9-F4C1-9084-FC3B-75EF95E02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745" y="2536568"/>
            <a:ext cx="5251655" cy="30507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77CC8-2EAF-4016-D954-8AF773E41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23" y="2469740"/>
            <a:ext cx="3741789" cy="2336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2AE7C6-4197-EFAF-0C79-01B5A10AD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071" y="2468819"/>
            <a:ext cx="3601680" cy="23382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t>PROGRAMMING LANGUAGE TRENDS —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t>FINDINGS</a:t>
            </a:r>
          </a:p>
          <a:p>
            <a:pPr marL="0" indent="0">
              <a:buNone/>
            </a:pPr>
            <a:endParaRPr/>
          </a:p>
          <a:p>
            <a:r>
              <a:t>• JavaScript remains #1</a:t>
            </a:r>
          </a:p>
          <a:p>
            <a:r>
              <a:t>• TypeScript moves to #3 in desired use</a:t>
            </a:r>
          </a:p>
          <a:p>
            <a:r>
              <a:t>• Go and Rust enter the desired top 10</a:t>
            </a:r>
          </a:p>
          <a:p>
            <a:r>
              <a:t>• Python remains a core general-purpose skill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t>IMPLICATIONS</a:t>
            </a:r>
          </a:p>
          <a:p>
            <a:pPr marL="0" indent="0">
              <a:buNone/>
            </a:pPr>
            <a:endParaRPr/>
          </a:p>
          <a:p>
            <a:r>
              <a:t>• Keep JavaScript, SQL, and Python in core curricula</a:t>
            </a:r>
          </a:p>
          <a:p>
            <a:r>
              <a:t>• Pair JavaScript training with TypeScript</a:t>
            </a:r>
          </a:p>
          <a:p>
            <a:r>
              <a:t>• Add elective pathways for Go and Rust</a:t>
            </a:r>
          </a:p>
          <a:p>
            <a:r>
              <a:t>• Emphasize transferable 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25988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BCF916-234E-CF38-83C9-00F5C93EF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771" y="2565605"/>
            <a:ext cx="4801829" cy="29804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B4BA81-5543-28BC-C281-54866D291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814" y="2566527"/>
            <a:ext cx="5040260" cy="296626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89765"/>
          </a:bodyPr>
          <a:lstStyle/>
          <a:p>
            <a:r>
              <a:t>DATABASE TRENDS —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t>FINDINGS</a:t>
            </a:r>
          </a:p>
          <a:p>
            <a:pPr marL="0" indent="0">
              <a:buNone/>
            </a:pPr>
            <a:endParaRPr/>
          </a:p>
          <a:p>
            <a:r>
              <a:t>• PostgreSQL leads both rankings</a:t>
            </a:r>
          </a:p>
          <a:p>
            <a:r>
              <a:t>• Redis rises sharply in desired use</a:t>
            </a:r>
          </a:p>
          <a:p>
            <a:r>
              <a:t>• SQLite remains highly relevant</a:t>
            </a:r>
          </a:p>
          <a:p>
            <a:r>
              <a:t>• MySQL stays popular but loses relative position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t>IMPLICATIONS</a:t>
            </a:r>
          </a:p>
          <a:p>
            <a:pPr marL="0" indent="0">
              <a:buNone/>
            </a:pPr>
            <a:endParaRPr/>
          </a:p>
          <a:p>
            <a:r>
              <a:t>• Prioritize PostgreSQL proficiency</a:t>
            </a:r>
          </a:p>
          <a:p>
            <a:r>
              <a:t>• Teach caching and in-memory data concepts with Redis</a:t>
            </a:r>
          </a:p>
          <a:p>
            <a:r>
              <a:t>• Retain MySQL and SQLite fundamentals</a:t>
            </a:r>
          </a:p>
          <a:p>
            <a:r>
              <a:t>• Cover both relational and NoSQL design choices</a:t>
            </a:r>
          </a:p>
        </p:txBody>
      </p:sp>
    </p:spTree>
    <p:extLst>
      <p:ext uri="{BB962C8B-B14F-4D97-AF65-F5344CB8AC3E}">
        <p14:creationId xmlns:p14="http://schemas.microsoft.com/office/powerpoint/2010/main" val="939236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33C9B-DB5C-6579-BF89-73B4B331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38" y="1474838"/>
            <a:ext cx="6273819" cy="4713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2CE5C2-D3EF-BED8-6409-926D7578188B}"/>
              </a:ext>
            </a:extLst>
          </p:cNvPr>
          <p:cNvSpPr txBox="1"/>
          <p:nvPr/>
        </p:nvSpPr>
        <p:spPr>
          <a:xfrm>
            <a:off x="7853516" y="2224547"/>
            <a:ext cx="415412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Dashboard Insight:</a:t>
            </a:r>
            <a:r>
              <a:rPr lang="en-US" dirty="0">
                <a:ea typeface="+mn-lt"/>
                <a:cs typeface="+mn-lt"/>
              </a:rPr>
              <a:t> JavaScript, PostgreSQL, AWS, Node.js, and React are the leading technologies currently used by respondents.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Key Insights:</a:t>
            </a:r>
            <a:r>
              <a:rPr lang="en-US" dirty="0">
                <a:ea typeface="+mn-lt"/>
                <a:cs typeface="+mn-lt"/>
              </a:rPr>
              <a:t> Web development, relational databases, and major cloud platforms dominate the current technology landscape.</a:t>
            </a:r>
            <a:endParaRPr lang="en-US" dirty="0"/>
          </a:p>
          <a:p>
            <a:pPr algn="l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92845" y="1709123"/>
            <a:ext cx="4063181" cy="3239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r>
              <a:rPr lang="en-US" sz="1800" b="1" dirty="0">
                <a:latin typeface="IBM Plex Sans"/>
              </a:rPr>
              <a:t>Dashboard Insight:</a:t>
            </a:r>
            <a:r>
              <a:rPr lang="en-US" sz="1800" dirty="0">
                <a:latin typeface="IBM Plex Sans"/>
              </a:rPr>
              <a:t> JavaScript, SQL, TypeScript, PostgreSQL, AWS, React, and Node.js remain the most desired technologies. </a:t>
            </a:r>
            <a:endParaRPr lang="en-US" sz="1800" dirty="0"/>
          </a:p>
          <a:p>
            <a:r>
              <a:rPr lang="en-US" sz="1800" b="1" dirty="0">
                <a:latin typeface="IBM Plex Sans"/>
              </a:rPr>
              <a:t>Key Insights:</a:t>
            </a:r>
            <a:r>
              <a:rPr lang="en-US" sz="1800" dirty="0">
                <a:latin typeface="IBM Plex Sans"/>
              </a:rPr>
              <a:t> Developers favor established technologies while showing increased interest in Go, Rust, Redis, Cloudflare, and modern web frameworks.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E1F39-80EE-0B04-D42B-B6667E136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84" y="1394952"/>
            <a:ext cx="6572359" cy="48300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96199" y="1696833"/>
            <a:ext cx="4308987" cy="3239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1800" b="1" dirty="0">
                <a:latin typeface="IBM Plex Sans"/>
              </a:rPr>
              <a:t>Dashboard Insight:</a:t>
            </a:r>
            <a:r>
              <a:rPr lang="en-US" sz="1800" dirty="0">
                <a:latin typeface="IBM Plex Sans"/>
              </a:rPr>
              <a:t> Most respondents are ages 25–44, live primarily in the United States, and hold bachelor’s or master’s degrees. </a:t>
            </a:r>
            <a:endParaRPr lang="en-US" sz="1800"/>
          </a:p>
          <a:p>
            <a:r>
              <a:rPr lang="en-US" sz="1800" b="1" dirty="0">
                <a:latin typeface="IBM Plex Sans"/>
              </a:rPr>
              <a:t>Key Insights:</a:t>
            </a:r>
            <a:r>
              <a:rPr lang="en-US" sz="1800" dirty="0">
                <a:latin typeface="IBM Plex Sans"/>
              </a:rPr>
              <a:t> The survey represents a global but highly educated developer population concentrated in the middle stages of their careers.</a:t>
            </a:r>
            <a:endParaRPr lang="en-US" sz="180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03E31-92DE-7265-7577-B852F9279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39" y="1517855"/>
            <a:ext cx="6431991" cy="47932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t>DISCUSSION</a:t>
            </a:r>
          </a:p>
        </p:txBody>
      </p:sp>
      <p:pic>
        <p:nvPicPr>
          <p:cNvPr id="7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r>
              <a:t>The results show continuity rather than wholesale replacement. Developers still rely on established languages and platforms, but desired-use rankings reveal targeted shifts toward typed JavaScript, systems languages, faster data layers, and modern deployment tools. Because the survey permits multiple selections, counts reflect overlapping technology ecosystems.</a:t>
            </a:r>
          </a:p>
        </p:txBody>
      </p:sp>
    </p:spTree>
    <p:extLst>
      <p:ext uri="{BB962C8B-B14F-4D97-AF65-F5344CB8AC3E}">
        <p14:creationId xmlns:p14="http://schemas.microsoft.com/office/powerpoint/2010/main" val="2989660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FINDINGS</a:t>
            </a:r>
          </a:p>
          <a:p>
            <a:pPr marL="0" indent="0">
              <a:buNone/>
            </a:pPr>
            <a:endParaRPr/>
          </a:p>
          <a:p>
            <a:r>
              <a:t>• Web technologies dominate</a:t>
            </a:r>
          </a:p>
          <a:p>
            <a:r>
              <a:t>• PostgreSQL is the database leader</a:t>
            </a:r>
          </a:p>
          <a:p>
            <a:r>
              <a:t>• AWS remains the platform leader</a:t>
            </a:r>
          </a:p>
          <a:p>
            <a:r>
              <a:t>• Ages 25–44 form 68.6% of respondents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4387"/>
          </a:bodyPr>
          <a:lstStyle/>
          <a:p>
            <a:pPr marL="0" indent="0">
              <a:buNone/>
            </a:pPr>
            <a:r>
              <a:t>IMPLICATIONS</a:t>
            </a:r>
          </a:p>
          <a:p>
            <a:pPr marL="0" indent="0">
              <a:buNone/>
            </a:pPr>
            <a:endParaRPr/>
          </a:p>
          <a:p>
            <a:r>
              <a:t>• Build skills around durable foundations</a:t>
            </a:r>
          </a:p>
          <a:p>
            <a:r>
              <a:t>• Add TypeScript, Go, Rust, and Redis exposure</a:t>
            </a:r>
          </a:p>
          <a:p>
            <a:r>
              <a:t>• Support cloud-first learning pathways</a:t>
            </a:r>
          </a:p>
          <a:p>
            <a:r>
              <a:t>• Design training for varied education backgrounds</a:t>
            </a:r>
          </a:p>
        </p:txBody>
      </p:sp>
    </p:spTree>
    <p:extLst>
      <p:ext uri="{BB962C8B-B14F-4D97-AF65-F5344CB8AC3E}">
        <p14:creationId xmlns:p14="http://schemas.microsoft.com/office/powerpoint/2010/main" val="4121048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t>CONCLUSION</a:t>
            </a:r>
          </a:p>
        </p:txBody>
      </p:sp>
      <p:pic>
        <p:nvPicPr>
          <p:cNvPr id="15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>
            <a:spLocks noGrp="1"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>
            <a:normAutofit fontScale="98731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• JavaScript, SQL, TypeScript, HTML/CSS, and Python remain essential</a:t>
            </a:r>
          </a:p>
          <a:p>
            <a:r>
              <a:t>• PostgreSQL and AWS anchor the data and cloud ecosystems</a:t>
            </a:r>
          </a:p>
          <a:p>
            <a:r>
              <a:t>• Future interest favors selective modernization—not abandonment of core tools</a:t>
            </a:r>
          </a:p>
          <a:p>
            <a:r>
              <a:t>• The dashboards translate survey responses into practical learning and workforce priorities</a:t>
            </a:r>
          </a:p>
        </p:txBody>
      </p:sp>
    </p:spTree>
    <p:extLst>
      <p:ext uri="{BB962C8B-B14F-4D97-AF65-F5344CB8AC3E}">
        <p14:creationId xmlns:p14="http://schemas.microsoft.com/office/powerpoint/2010/main" val="3196719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t>APPENDIX</a:t>
            </a:r>
          </a:p>
        </p:txBody>
      </p:sp>
      <p:pic>
        <p:nvPicPr>
          <p:cNvPr id="13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>
            <a:spLocks noGrp="1"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>
            <a:normAutofit fontScale="94387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/>
                <a:ea typeface="IBM Plex Sans"/>
                <a:cs typeface="IBM Plex San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/>
                <a:ea typeface="IBM Plex Sans"/>
                <a:cs typeface="IBM Plex San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Definitions</a:t>
            </a:r>
          </a:p>
          <a:p>
            <a:r>
              <a:t>• Current usage: technology selected under “Have Worked With”</a:t>
            </a:r>
          </a:p>
          <a:p>
            <a:r>
              <a:t>• Future interest: technology selected under “Want to Work With”</a:t>
            </a:r>
          </a:p>
          <a:p>
            <a:r>
              <a:t>• Respondent count: number of survey records mentioning a technology</a:t>
            </a:r>
          </a:p>
          <a:p>
            <a:r>
              <a:t>• Multi-select responses were split using semicolon delimiters</a:t>
            </a:r>
          </a:p>
          <a:p>
            <a:r>
              <a:t>• Top-10 rankings exclude blank values</a:t>
            </a:r>
          </a:p>
        </p:txBody>
      </p:sp>
    </p:spTree>
    <p:extLst>
      <p:ext uri="{BB962C8B-B14F-4D97-AF65-F5344CB8AC3E}">
        <p14:creationId xmlns:p14="http://schemas.microsoft.com/office/powerpoint/2010/main" val="40891941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432</Words>
  <Application>Microsoft Office PowerPoint</Application>
  <PresentationFormat>Widescreen</PresentationFormat>
  <Paragraphs>117</Paragraphs>
  <Slides>20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SLIDE_TEMPLATE_skill_network</vt:lpstr>
      <vt:lpstr>IBM Capstone Project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— FINDINGS &amp; IMPLICATIONS</vt:lpstr>
      <vt:lpstr>DATABASE TRENDS</vt:lpstr>
      <vt:lpstr>DATABASE TRENDS —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pratiksha verma</cp:lastModifiedBy>
  <cp:revision>108</cp:revision>
  <dcterms:created xsi:type="dcterms:W3CDTF">2024-10-30T05:40:03Z</dcterms:created>
  <dcterms:modified xsi:type="dcterms:W3CDTF">2026-09-03T00:39:17Z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