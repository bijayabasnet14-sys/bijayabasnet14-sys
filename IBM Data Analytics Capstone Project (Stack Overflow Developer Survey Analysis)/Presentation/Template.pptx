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5"/>
  </p:notesMasterIdLst>
  <p:sldIdLst>
    <p:sldId id="256" r:id="rId5"/>
    <p:sldId id="257" r:id="rId6"/>
    <p:sldId id="258" r:id="rId7"/>
    <p:sldId id="259" r:id="rId8"/>
    <p:sldId id="260" r:id="rId9"/>
    <p:sldId id="278" r:id="rId10"/>
    <p:sldId id="274" r:id="rId11"/>
    <p:sldId id="275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/>
  <p:notesSz cx="6858000" cy="1857375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Beth Larsen" initials="BL" lastIdx="1" clrIdx="4">
    <p:extLst>
      <p:ext uri="{19B8F6BF-5375-455C-9EA6-DF929625EA0E}">
        <p15:presenceInfo xmlns:p15="http://schemas.microsoft.com/office/powerpoint/2012/main" userId="04edb8684ac0beb8" providerId="Windows Live"/>
      </p:ext>
    </p:extLst>
  </p:cmAuthor>
  <p:cmAuthor id="6" name="Matt Ockenfels" initials="MO" lastIdx="1" clrIdx="5">
    <p:extLst>
      <p:ext uri="{19B8F6BF-5375-455C-9EA6-DF929625EA0E}">
        <p15:presenceInfo xmlns:p15="http://schemas.microsoft.com/office/powerpoint/2012/main" userId="S::matto@skillup.tech::1f5f8b86-5465-4302-9a82-9a36d055e8b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7B49"/>
    <a:srgbClr val="E76F39"/>
    <a:srgbClr val="0072C3"/>
    <a:srgbClr val="007D79"/>
    <a:srgbClr val="D02670"/>
    <a:srgbClr val="231F20"/>
    <a:srgbClr val="33B1FF"/>
    <a:srgbClr val="262626"/>
    <a:srgbClr val="525252"/>
    <a:srgbClr val="BE9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13" autoAdjust="0"/>
    <p:restoredTop sz="91480" autoAdjust="0"/>
  </p:normalViewPr>
  <p:slideViewPr>
    <p:cSldViewPr snapToGrid="0">
      <p:cViewPr varScale="1">
        <p:scale>
          <a:sx n="71" d="100"/>
          <a:sy n="71" d="100"/>
        </p:scale>
        <p:origin x="43" y="202"/>
      </p:cViewPr>
      <p:guideLst>
        <p:guide orient="horz" pos="744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/>
              <a:t> 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873" y="1168401"/>
            <a:ext cx="10964254" cy="2387600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ctr">
              <a:defRPr sz="4800" b="0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8273" y="3731247"/>
            <a:ext cx="913545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>
                <a:solidFill>
                  <a:srgbClr val="525252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>
                <a:solidFill>
                  <a:srgbClr val="000000"/>
                </a:solidFill>
                <a:latin typeface="Helv"/>
              </a:rPr>
              <a:t>© IBM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5BAB42-A6B6-D2DB-EC91-721CA287B900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9DAF80D-4D83-4EA4-3B9A-B4DEAA21CF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11" name="Graphic 10" hidden="1">
              <a:extLst>
                <a:ext uri="{FF2B5EF4-FFF2-40B4-BE49-F238E27FC236}">
                  <a16:creationId xmlns:a16="http://schemas.microsoft.com/office/drawing/2014/main" id="{AA1B3EED-0A38-9B4D-C031-B7CFB1F16C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12" name="Graphic 11" hidden="1">
              <a:extLst>
                <a:ext uri="{FF2B5EF4-FFF2-40B4-BE49-F238E27FC236}">
                  <a16:creationId xmlns:a16="http://schemas.microsoft.com/office/drawing/2014/main" id="{D8BA40FF-052F-CEA2-8570-24062BFE0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13" name="Graphic 12" hidden="1">
              <a:extLst>
                <a:ext uri="{FF2B5EF4-FFF2-40B4-BE49-F238E27FC236}">
                  <a16:creationId xmlns:a16="http://schemas.microsoft.com/office/drawing/2014/main" id="{10305589-4F05-9658-71A7-2F6E7BFE9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EEFE9B80-1CD0-9614-4D99-C0FA5B74A8B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2525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107442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262626"/>
                </a:solidFill>
              </a:defRPr>
            </a:lvl4pPr>
            <a:lvl5pPr>
              <a:defRPr>
                <a:solidFill>
                  <a:srgbClr val="26262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rgbClr val="525252"/>
                </a:solidFill>
                <a:latin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6.png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Relationship Id="rId14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05161552-D656-B925-AB2F-4CA5F6FE7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alphaModFix amt="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155000"/>
                    </a14:imgEffect>
                    <a14:imgEffect>
                      <a14:brightnessContrast contrast="-77000"/>
                    </a14:imgEffect>
                  </a14:imgLayer>
                </a14:imgProps>
              </a:ext>
            </a:extLst>
          </a:blip>
          <a:srcRect l="-1923" r="70315"/>
          <a:stretch/>
        </p:blipFill>
        <p:spPr>
          <a:xfrm>
            <a:off x="3345127" y="1418811"/>
            <a:ext cx="5501746" cy="48261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377BDD-6725-68B2-639C-E47C9B4601F2}"/>
              </a:ext>
            </a:extLst>
          </p:cNvPr>
          <p:cNvSpPr/>
          <p:nvPr userDrawn="1"/>
        </p:nvSpPr>
        <p:spPr>
          <a:xfrm>
            <a:off x="12625444" y="2728308"/>
            <a:ext cx="1235879" cy="1235878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771CE0-19C9-5FCF-1B71-ACF36DEE6664}"/>
              </a:ext>
            </a:extLst>
          </p:cNvPr>
          <p:cNvSpPr/>
          <p:nvPr userDrawn="1"/>
        </p:nvSpPr>
        <p:spPr>
          <a:xfrm>
            <a:off x="18071881" y="2728308"/>
            <a:ext cx="1235879" cy="1235878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2A3F44-3AAC-9557-E214-F323108F6B65}"/>
              </a:ext>
            </a:extLst>
          </p:cNvPr>
          <p:cNvSpPr/>
          <p:nvPr userDrawn="1"/>
        </p:nvSpPr>
        <p:spPr>
          <a:xfrm>
            <a:off x="14440923" y="2728308"/>
            <a:ext cx="1235879" cy="1235878"/>
          </a:xfrm>
          <a:prstGeom prst="rect">
            <a:avLst/>
          </a:prstGeom>
          <a:solidFill>
            <a:srgbClr val="FF7EB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#FF7EB6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EA0613-E945-E437-C733-F9F008F63B76}"/>
              </a:ext>
            </a:extLst>
          </p:cNvPr>
          <p:cNvSpPr/>
          <p:nvPr userDrawn="1"/>
        </p:nvSpPr>
        <p:spPr>
          <a:xfrm>
            <a:off x="16256402" y="2728308"/>
            <a:ext cx="1235879" cy="1235878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C5687-C25A-A73E-5192-674F560F89FA}"/>
              </a:ext>
            </a:extLst>
          </p:cNvPr>
          <p:cNvSpPr txBox="1"/>
          <p:nvPr userDrawn="1"/>
        </p:nvSpPr>
        <p:spPr>
          <a:xfrm>
            <a:off x="12602453" y="3912427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F4021-33FE-506B-3C0D-688FEF669647}"/>
              </a:ext>
            </a:extLst>
          </p:cNvPr>
          <p:cNvSpPr txBox="1"/>
          <p:nvPr userDrawn="1"/>
        </p:nvSpPr>
        <p:spPr>
          <a:xfrm>
            <a:off x="14334144" y="3912427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6B112C-C780-5B47-83AA-D580E668C866}"/>
              </a:ext>
            </a:extLst>
          </p:cNvPr>
          <p:cNvSpPr txBox="1"/>
          <p:nvPr userDrawn="1"/>
        </p:nvSpPr>
        <p:spPr>
          <a:xfrm>
            <a:off x="16404771" y="3912427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2FC597-9201-21C6-383D-67750826F14D}"/>
              </a:ext>
            </a:extLst>
          </p:cNvPr>
          <p:cNvSpPr txBox="1"/>
          <p:nvPr userDrawn="1"/>
        </p:nvSpPr>
        <p:spPr>
          <a:xfrm>
            <a:off x="18206642" y="3912427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4A6D56-917B-72D3-81F7-A59A36FC4198}"/>
              </a:ext>
            </a:extLst>
          </p:cNvPr>
          <p:cNvSpPr/>
          <p:nvPr userDrawn="1"/>
        </p:nvSpPr>
        <p:spPr>
          <a:xfrm>
            <a:off x="12625444" y="4418033"/>
            <a:ext cx="1235879" cy="1235878"/>
          </a:xfrm>
          <a:prstGeom prst="rect">
            <a:avLst/>
          </a:prstGeom>
          <a:solidFill>
            <a:srgbClr val="8A3FFC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#8A3FFC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512372-0859-45E3-8DD7-AE730B4AFD19}"/>
              </a:ext>
            </a:extLst>
          </p:cNvPr>
          <p:cNvSpPr/>
          <p:nvPr userDrawn="1"/>
        </p:nvSpPr>
        <p:spPr>
          <a:xfrm>
            <a:off x="18071881" y="4418033"/>
            <a:ext cx="1235879" cy="1235878"/>
          </a:xfrm>
          <a:prstGeom prst="rect">
            <a:avLst/>
          </a:prstGeom>
          <a:solidFill>
            <a:srgbClr val="0072C3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#0072C3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197D57-5F46-DB39-F81D-9205CC53189F}"/>
              </a:ext>
            </a:extLst>
          </p:cNvPr>
          <p:cNvSpPr/>
          <p:nvPr userDrawn="1"/>
        </p:nvSpPr>
        <p:spPr>
          <a:xfrm>
            <a:off x="14440923" y="4418033"/>
            <a:ext cx="1235879" cy="1235878"/>
          </a:xfrm>
          <a:prstGeom prst="rect">
            <a:avLst/>
          </a:prstGeom>
          <a:solidFill>
            <a:srgbClr val="D0267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#D02670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0AA9B1-D6E7-98E2-49EF-C98B6F0E7E2F}"/>
              </a:ext>
            </a:extLst>
          </p:cNvPr>
          <p:cNvSpPr/>
          <p:nvPr userDrawn="1"/>
        </p:nvSpPr>
        <p:spPr>
          <a:xfrm>
            <a:off x="16256402" y="4418033"/>
            <a:ext cx="1235879" cy="1235878"/>
          </a:xfrm>
          <a:prstGeom prst="rect">
            <a:avLst/>
          </a:prstGeom>
          <a:solidFill>
            <a:srgbClr val="007D7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#007D79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A9DFA7-88D2-04F7-451C-7A2C388B178F}"/>
              </a:ext>
            </a:extLst>
          </p:cNvPr>
          <p:cNvSpPr txBox="1"/>
          <p:nvPr userDrawn="1"/>
        </p:nvSpPr>
        <p:spPr>
          <a:xfrm>
            <a:off x="12602453" y="5602152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C98F8E-1DCD-3647-3613-DFFC7CDFF372}"/>
              </a:ext>
            </a:extLst>
          </p:cNvPr>
          <p:cNvSpPr txBox="1"/>
          <p:nvPr userDrawn="1"/>
        </p:nvSpPr>
        <p:spPr>
          <a:xfrm>
            <a:off x="14334144" y="5602152"/>
            <a:ext cx="1448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9F1073-373D-249D-C1F2-A527EB0210C9}"/>
              </a:ext>
            </a:extLst>
          </p:cNvPr>
          <p:cNvSpPr txBox="1"/>
          <p:nvPr userDrawn="1"/>
        </p:nvSpPr>
        <p:spPr>
          <a:xfrm>
            <a:off x="16404771" y="560215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12B31A-8903-A616-B756-B8695FC8F38A}"/>
              </a:ext>
            </a:extLst>
          </p:cNvPr>
          <p:cNvSpPr txBox="1"/>
          <p:nvPr userDrawn="1"/>
        </p:nvSpPr>
        <p:spPr>
          <a:xfrm>
            <a:off x="18206642" y="5602152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892CDF-E500-AD18-C0DB-5405AF35ADE4}"/>
              </a:ext>
            </a:extLst>
          </p:cNvPr>
          <p:cNvSpPr/>
          <p:nvPr userDrawn="1"/>
        </p:nvSpPr>
        <p:spPr>
          <a:xfrm>
            <a:off x="19512379" y="2712316"/>
            <a:ext cx="1267863" cy="1267862"/>
          </a:xfrm>
          <a:prstGeom prst="rect">
            <a:avLst/>
          </a:prstGeom>
          <a:solidFill>
            <a:srgbClr val="12161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FFFFFF"/>
                </a:solidFill>
                <a:effectLst/>
                <a:latin typeface="IBM Plex Mono" panose="020B0509050203000203" pitchFamily="49" charset="0"/>
              </a:rPr>
              <a:t>000000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CF072D-B1FC-4829-B71E-556F57965D46}"/>
              </a:ext>
            </a:extLst>
          </p:cNvPr>
          <p:cNvSpPr/>
          <p:nvPr userDrawn="1"/>
        </p:nvSpPr>
        <p:spPr>
          <a:xfrm>
            <a:off x="19510690" y="4403963"/>
            <a:ext cx="1264019" cy="1264018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262626"/>
                </a:solidFill>
                <a:effectLst/>
                <a:latin typeface="IBM Plex Mono" panose="020B0509050203000203" pitchFamily="49" charset="0"/>
              </a:rPr>
              <a:t>FFFFFF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8BBA60-CCFF-F95A-ECC9-46204EA2214B}"/>
              </a:ext>
            </a:extLst>
          </p:cNvPr>
          <p:cNvSpPr/>
          <p:nvPr userDrawn="1"/>
        </p:nvSpPr>
        <p:spPr>
          <a:xfrm>
            <a:off x="12625444" y="1072749"/>
            <a:ext cx="1235879" cy="1235878"/>
          </a:xfrm>
          <a:prstGeom prst="rect">
            <a:avLst/>
          </a:prstGeom>
          <a:solidFill>
            <a:srgbClr val="F6F2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#F6F2FF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F05CFF-A449-FBB3-5F13-F7A72C2E43DE}"/>
              </a:ext>
            </a:extLst>
          </p:cNvPr>
          <p:cNvSpPr/>
          <p:nvPr userDrawn="1"/>
        </p:nvSpPr>
        <p:spPr>
          <a:xfrm>
            <a:off x="18071881" y="1072749"/>
            <a:ext cx="1235879" cy="1235878"/>
          </a:xfrm>
          <a:prstGeom prst="rect">
            <a:avLst/>
          </a:prstGeom>
          <a:solidFill>
            <a:srgbClr val="E5F6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#E5F6FF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895BC4-B52A-2D00-62C1-71A44604BBB4}"/>
              </a:ext>
            </a:extLst>
          </p:cNvPr>
          <p:cNvSpPr/>
          <p:nvPr userDrawn="1"/>
        </p:nvSpPr>
        <p:spPr>
          <a:xfrm>
            <a:off x="14440923" y="1072749"/>
            <a:ext cx="1235879" cy="1235878"/>
          </a:xfrm>
          <a:prstGeom prst="rect">
            <a:avLst/>
          </a:prstGeom>
          <a:solidFill>
            <a:srgbClr val="FFF0F7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#FFF0F7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B5B6C5-97CB-45FD-FDEC-1F5C2A0BDC3E}"/>
              </a:ext>
            </a:extLst>
          </p:cNvPr>
          <p:cNvSpPr/>
          <p:nvPr userDrawn="1"/>
        </p:nvSpPr>
        <p:spPr>
          <a:xfrm>
            <a:off x="16256402" y="1072749"/>
            <a:ext cx="1235879" cy="1235878"/>
          </a:xfrm>
          <a:prstGeom prst="rect">
            <a:avLst/>
          </a:prstGeom>
          <a:solidFill>
            <a:srgbClr val="D9FBFB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#D9FBFB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DCC439-D448-E0FC-26EF-94C7A8B8D0DB}"/>
              </a:ext>
            </a:extLst>
          </p:cNvPr>
          <p:cNvSpPr txBox="1"/>
          <p:nvPr userDrawn="1"/>
        </p:nvSpPr>
        <p:spPr>
          <a:xfrm>
            <a:off x="12602453" y="2256868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4B7B48-2E66-50BA-96FE-D24C4E60BFD7}"/>
              </a:ext>
            </a:extLst>
          </p:cNvPr>
          <p:cNvSpPr txBox="1"/>
          <p:nvPr userDrawn="1"/>
        </p:nvSpPr>
        <p:spPr>
          <a:xfrm>
            <a:off x="14334144" y="2256868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C767BF-EB72-86A2-DBA6-0D26C6C02894}"/>
              </a:ext>
            </a:extLst>
          </p:cNvPr>
          <p:cNvSpPr txBox="1"/>
          <p:nvPr userDrawn="1"/>
        </p:nvSpPr>
        <p:spPr>
          <a:xfrm>
            <a:off x="16404771" y="2256868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EDF829-6CB0-F03B-E025-85D510B4DC26}"/>
              </a:ext>
            </a:extLst>
          </p:cNvPr>
          <p:cNvSpPr txBox="1"/>
          <p:nvPr userDrawn="1"/>
        </p:nvSpPr>
        <p:spPr>
          <a:xfrm>
            <a:off x="18206642" y="2256868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F97BF5-A64D-02F2-4B04-BC95CE39DF3F}"/>
              </a:ext>
            </a:extLst>
          </p:cNvPr>
          <p:cNvSpPr/>
          <p:nvPr userDrawn="1"/>
        </p:nvSpPr>
        <p:spPr>
          <a:xfrm>
            <a:off x="16222135" y="-2341897"/>
            <a:ext cx="1267863" cy="1267862"/>
          </a:xfrm>
          <a:prstGeom prst="rect">
            <a:avLst/>
          </a:prstGeom>
          <a:solidFill>
            <a:srgbClr val="C1C7CD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#C1C7CD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738F9B-27C5-3C49-8FD7-0731EE9AC3BF}"/>
              </a:ext>
            </a:extLst>
          </p:cNvPr>
          <p:cNvSpPr/>
          <p:nvPr userDrawn="1"/>
        </p:nvSpPr>
        <p:spPr>
          <a:xfrm>
            <a:off x="16222135" y="-801901"/>
            <a:ext cx="1267863" cy="1267862"/>
          </a:xfrm>
          <a:prstGeom prst="rect">
            <a:avLst/>
          </a:prstGeom>
          <a:solidFill>
            <a:srgbClr val="F2F4F8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#F2F4F8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194F16-D83C-3057-9151-A884EA8F0931}"/>
              </a:ext>
            </a:extLst>
          </p:cNvPr>
          <p:cNvSpPr/>
          <p:nvPr userDrawn="1"/>
        </p:nvSpPr>
        <p:spPr>
          <a:xfrm>
            <a:off x="14397282" y="-2352139"/>
            <a:ext cx="1267863" cy="1267862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C7A661-0FF9-B849-2771-84AA24CF5EFF}"/>
              </a:ext>
            </a:extLst>
          </p:cNvPr>
          <p:cNvSpPr/>
          <p:nvPr userDrawn="1"/>
        </p:nvSpPr>
        <p:spPr>
          <a:xfrm>
            <a:off x="14397282" y="-812143"/>
            <a:ext cx="1267863" cy="1267862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4675A9-3F9A-460D-D8D6-C5D9516859D4}"/>
              </a:ext>
            </a:extLst>
          </p:cNvPr>
          <p:cNvSpPr/>
          <p:nvPr userDrawn="1"/>
        </p:nvSpPr>
        <p:spPr>
          <a:xfrm>
            <a:off x="12572429" y="-2309174"/>
            <a:ext cx="1267863" cy="1267862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8C7787-7D0E-ED5D-DB99-53C4B52AA8F2}"/>
              </a:ext>
            </a:extLst>
          </p:cNvPr>
          <p:cNvSpPr/>
          <p:nvPr userDrawn="1"/>
        </p:nvSpPr>
        <p:spPr>
          <a:xfrm>
            <a:off x="12572429" y="-769178"/>
            <a:ext cx="1267863" cy="1267862"/>
          </a:xfrm>
          <a:prstGeom prst="rect">
            <a:avLst/>
          </a:prstGeom>
          <a:solidFill>
            <a:srgbClr val="78A9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#78A9FF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0CCBF62-5F94-E366-51BD-6C8DCBF90955}"/>
              </a:ext>
            </a:extLst>
          </p:cNvPr>
          <p:cNvSpPr/>
          <p:nvPr userDrawn="1"/>
        </p:nvSpPr>
        <p:spPr>
          <a:xfrm>
            <a:off x="17993876" y="-2309174"/>
            <a:ext cx="1267863" cy="1267862"/>
          </a:xfrm>
          <a:prstGeom prst="rect">
            <a:avLst/>
          </a:prstGeom>
          <a:solidFill>
            <a:srgbClr val="52525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Labels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#525252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880850-0EBA-AD14-E6FD-BB1DC94F3DA5}"/>
              </a:ext>
            </a:extLst>
          </p:cNvPr>
          <p:cNvSpPr/>
          <p:nvPr userDrawn="1"/>
        </p:nvSpPr>
        <p:spPr>
          <a:xfrm>
            <a:off x="17993875" y="-812143"/>
            <a:ext cx="1267863" cy="1267862"/>
          </a:xfrm>
          <a:prstGeom prst="rect">
            <a:avLst/>
          </a:prstGeom>
          <a:solidFill>
            <a:srgbClr val="26262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Text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#262626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6209ACE-A4F7-EAC9-E98F-D141BE77F994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FEE4105-67FB-F40B-E7BD-8C9B80C32F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61" name="Graphic 60" hidden="1">
              <a:extLst>
                <a:ext uri="{FF2B5EF4-FFF2-40B4-BE49-F238E27FC236}">
                  <a16:creationId xmlns:a16="http://schemas.microsoft.com/office/drawing/2014/main" id="{9AB2407C-B3E2-DCDD-0692-DD32E3C452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62" name="Graphic 61" hidden="1">
              <a:extLst>
                <a:ext uri="{FF2B5EF4-FFF2-40B4-BE49-F238E27FC236}">
                  <a16:creationId xmlns:a16="http://schemas.microsoft.com/office/drawing/2014/main" id="{9128FFA9-E729-6051-FE44-5C57854D2B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63" name="Graphic 62" hidden="1">
              <a:extLst>
                <a:ext uri="{FF2B5EF4-FFF2-40B4-BE49-F238E27FC236}">
                  <a16:creationId xmlns:a16="http://schemas.microsoft.com/office/drawing/2014/main" id="{21D1BE07-55D7-FEB6-D90F-FC214DFBDA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66" name="Graphic 65">
            <a:extLst>
              <a:ext uri="{FF2B5EF4-FFF2-40B4-BE49-F238E27FC236}">
                <a16:creationId xmlns:a16="http://schemas.microsoft.com/office/drawing/2014/main" id="{FD0E63E5-36ED-0A5F-F2A0-E31AD11555E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  <p:sp>
        <p:nvSpPr>
          <p:cNvPr id="67" name="Rectangle 66" hidden="1">
            <a:extLst>
              <a:ext uri="{FF2B5EF4-FFF2-40B4-BE49-F238E27FC236}">
                <a16:creationId xmlns:a16="http://schemas.microsoft.com/office/drawing/2014/main" id="{04EE5960-43EB-4B14-0782-2876BE85A607}"/>
              </a:ext>
            </a:extLst>
          </p:cNvPr>
          <p:cNvSpPr/>
          <p:nvPr userDrawn="1"/>
        </p:nvSpPr>
        <p:spPr>
          <a:xfrm>
            <a:off x="-76201" y="6356350"/>
            <a:ext cx="12353925" cy="276797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525252"/>
          </a:solidFill>
          <a:latin typeface="IBM Plex Sans SemiBold" panose="020B0503050203000203" pitchFamily="34" charset="0"/>
          <a:ea typeface="IBM Plex Sans SemiBold" panose="020B0503050203000203" pitchFamily="34" charset="0"/>
          <a:cs typeface="IBM Plex Sans SemiBold" panose="020B050305020300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8.xml"/><Relationship Id="rId3" Type="http://schemas.openxmlformats.org/officeDocument/2006/relationships/image" Target="../media/image9.png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10.png"/><Relationship Id="rId10" Type="http://schemas.openxmlformats.org/officeDocument/2006/relationships/customXml" Target="../ink/ink5.xml"/><Relationship Id="rId4" Type="http://schemas.openxmlformats.org/officeDocument/2006/relationships/customXml" Target="../ink/ink1.xml"/><Relationship Id="rId9" Type="http://schemas.openxmlformats.org/officeDocument/2006/relationships/image" Target="../media/image11.png"/><Relationship Id="rId14" Type="http://schemas.openxmlformats.org/officeDocument/2006/relationships/customXml" Target="../ink/ink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5631-0297-E86E-7069-C969B141F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2162"/>
            <a:ext cx="10515600" cy="611620"/>
          </a:xfrm>
        </p:spPr>
        <p:txBody>
          <a:bodyPr anchor="ctr">
            <a:noAutofit/>
          </a:bodyPr>
          <a:lstStyle/>
          <a:p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F6B8D-2BAC-11F8-7D28-B631D08C8D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Learner Name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Date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23E2C-8982-861D-BE1D-3E30E5CC4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811" y="1600200"/>
            <a:ext cx="5038015" cy="4572000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9730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3BC838-B25A-D37F-BC71-DD6178957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EC79264-7E04-A135-9158-F7EF333AC3D8}"/>
              </a:ext>
            </a:extLst>
          </p:cNvPr>
          <p:cNvSpPr txBox="1">
            <a:spLocks/>
          </p:cNvSpPr>
          <p:nvPr/>
        </p:nvSpPr>
        <p:spPr>
          <a:xfrm>
            <a:off x="782054" y="263810"/>
            <a:ext cx="8508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639434-C7DB-C6DD-28C9-5FE3588C5BC8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Executive Summary</a:t>
            </a:r>
          </a:p>
          <a:p>
            <a:r>
              <a:rPr lang="en-US" sz="2200" dirty="0"/>
              <a:t>Introduction</a:t>
            </a:r>
          </a:p>
          <a:p>
            <a:r>
              <a:rPr lang="en-US" sz="2200" dirty="0"/>
              <a:t>Methodology</a:t>
            </a:r>
          </a:p>
          <a:p>
            <a:r>
              <a:rPr lang="en-US" sz="2200" dirty="0"/>
              <a:t>Results</a:t>
            </a:r>
          </a:p>
          <a:p>
            <a:pPr lvl="1"/>
            <a:r>
              <a:rPr lang="en-US" sz="1800" dirty="0"/>
              <a:t>Visualization – Charts</a:t>
            </a:r>
          </a:p>
          <a:p>
            <a:pPr lvl="1"/>
            <a:r>
              <a:rPr lang="en-US" sz="1800" dirty="0"/>
              <a:t>Dashboard</a:t>
            </a:r>
          </a:p>
          <a:p>
            <a:r>
              <a:rPr lang="en-US" sz="2200" dirty="0"/>
              <a:t>Discussion</a:t>
            </a:r>
          </a:p>
          <a:p>
            <a:pPr lvl="1"/>
            <a:r>
              <a:rPr lang="en-US" sz="1800" dirty="0"/>
              <a:t>Findings &amp; Implications</a:t>
            </a:r>
          </a:p>
          <a:p>
            <a:r>
              <a:rPr lang="en-US" sz="2200" dirty="0"/>
              <a:t>Conclusion</a:t>
            </a:r>
          </a:p>
          <a:p>
            <a:r>
              <a:rPr lang="en-US" sz="2200" dirty="0"/>
              <a:t>Appendix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8120" y="782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38160" y="758232"/>
                <a:ext cx="182880" cy="34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088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5324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8DC5-8A48-2A34-31B9-FC8CB168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4109-938A-7A63-C3A8-FDDB5C799EA5}"/>
              </a:ext>
            </a:extLst>
          </p:cNvPr>
          <p:cNvSpPr txBox="1">
            <a:spLocks/>
          </p:cNvSpPr>
          <p:nvPr/>
        </p:nvSpPr>
        <p:spPr>
          <a:xfrm>
            <a:off x="4389349" y="1630528"/>
            <a:ext cx="7068725" cy="4465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/>
              <a:t>Summarize key findings here</a:t>
            </a:r>
          </a:p>
          <a:p>
            <a:r>
              <a:rPr lang="en-US" sz="2200" dirty="0"/>
              <a:t>Point1</a:t>
            </a:r>
          </a:p>
          <a:p>
            <a:r>
              <a:rPr lang="en-US" sz="2200" dirty="0"/>
              <a:t>Point2</a:t>
            </a:r>
          </a:p>
          <a:p>
            <a:pPr lvl="1"/>
            <a:r>
              <a:rPr lang="en-US" sz="1800" dirty="0"/>
              <a:t>Sub Point 1</a:t>
            </a:r>
          </a:p>
          <a:p>
            <a:pPr lvl="1"/>
            <a:r>
              <a:rPr lang="en-US" sz="1800" dirty="0"/>
              <a:t>Sub Point 2</a:t>
            </a:r>
          </a:p>
          <a:p>
            <a:pPr lvl="1"/>
            <a:r>
              <a:rPr lang="en-US" sz="1800" dirty="0"/>
              <a:t>Sub Point 3</a:t>
            </a:r>
          </a:p>
          <a:p>
            <a:r>
              <a:rPr lang="en-US" sz="2200" dirty="0"/>
              <a:t>Point3</a:t>
            </a:r>
          </a:p>
          <a:p>
            <a:r>
              <a:rPr lang="en-US" sz="2200" dirty="0"/>
              <a:t>Point4</a:t>
            </a:r>
          </a:p>
          <a:p>
            <a:r>
              <a:rPr lang="en-US" sz="2200" dirty="0"/>
              <a:t>Point5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795A9-FE70-B337-8B17-B79ACA60A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26" y="2136507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538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6FB0-8465-86A8-332A-32CC35A5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DC8D-244C-F7EC-5F66-ACB99A7D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C879F-E713-B75A-D2DE-0953EB0E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47" y="2262036"/>
            <a:ext cx="3054361" cy="305436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35578F-30C9-4905-FD4E-7366FEFAEA7F}"/>
              </a:ext>
            </a:extLst>
          </p:cNvPr>
          <p:cNvSpPr txBox="1">
            <a:spLocks/>
          </p:cNvSpPr>
          <p:nvPr/>
        </p:nvSpPr>
        <p:spPr>
          <a:xfrm>
            <a:off x="4285075" y="1825625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Purpose of the report, Target Audience &amp; Value of the analysis</a:t>
            </a:r>
            <a:endParaRPr lang="en-US" sz="2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2200" dirty="0">
                <a:solidFill>
                  <a:schemeClr val="tx1"/>
                </a:solidFill>
              </a:rPr>
              <a:t>Point1</a:t>
            </a:r>
          </a:p>
          <a:p>
            <a:r>
              <a:rPr lang="en-US" sz="2200" dirty="0">
                <a:solidFill>
                  <a:schemeClr val="tx1"/>
                </a:solidFill>
              </a:rPr>
              <a:t>Point2</a:t>
            </a:r>
          </a:p>
          <a:p>
            <a:r>
              <a:rPr lang="en-US" sz="2200" dirty="0">
                <a:solidFill>
                  <a:schemeClr val="tx1"/>
                </a:solidFill>
              </a:rPr>
              <a:t>Point3</a:t>
            </a:r>
          </a:p>
          <a:p>
            <a:r>
              <a:rPr lang="en-US" sz="2200" dirty="0">
                <a:solidFill>
                  <a:schemeClr val="tx1"/>
                </a:solidFill>
              </a:rPr>
              <a:t>Point4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Sub Point1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Sub Point2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86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DCFD-8450-17AD-05D4-229BA1C6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B7E7-7534-10CB-A359-88015C28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681037"/>
            <a:ext cx="10571747" cy="685799"/>
          </a:xfrm>
        </p:spPr>
        <p:txBody>
          <a:bodyPr anchor="ctr">
            <a:norm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8C842-232A-AE37-3471-90353781809D}"/>
              </a:ext>
            </a:extLst>
          </p:cNvPr>
          <p:cNvSpPr txBox="1">
            <a:spLocks/>
          </p:cNvSpPr>
          <p:nvPr/>
        </p:nvSpPr>
        <p:spPr>
          <a:xfrm>
            <a:off x="4285075" y="1680153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/>
              <a:t>Data sources, Data collection &amp; Data wrangling steps</a:t>
            </a:r>
          </a:p>
          <a:p>
            <a:r>
              <a:rPr lang="en-US" sz="2200" dirty="0"/>
              <a:t>Point1</a:t>
            </a:r>
          </a:p>
          <a:p>
            <a:r>
              <a:rPr lang="en-US" sz="2200" dirty="0"/>
              <a:t>Point2</a:t>
            </a:r>
          </a:p>
          <a:p>
            <a:r>
              <a:rPr lang="en-US" sz="2200" dirty="0"/>
              <a:t>Point3</a:t>
            </a:r>
          </a:p>
          <a:p>
            <a:r>
              <a:rPr lang="en-US" sz="2200" dirty="0"/>
              <a:t>Point4</a:t>
            </a:r>
          </a:p>
          <a:p>
            <a:pPr lvl="1"/>
            <a:r>
              <a:rPr lang="en-US" sz="2200" dirty="0"/>
              <a:t>Sub Point1</a:t>
            </a:r>
          </a:p>
          <a:p>
            <a:pPr lvl="1"/>
            <a:r>
              <a:rPr lang="en-US" sz="2200" dirty="0"/>
              <a:t>Sub Point2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CF71F-8A03-DAC7-4BC2-F05644ECB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655" y="1831709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169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47B35-92B8-C737-3DEB-4A57887A1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9CC39-D393-D59D-E066-37C17FD3C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398033"/>
            <a:ext cx="10571747" cy="1091735"/>
          </a:xfrm>
        </p:spPr>
        <p:txBody>
          <a:bodyPr anchor="ctr">
            <a:normAutofit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0DDB6-5B82-F3F8-80C1-FE555825BAF5}"/>
              </a:ext>
            </a:extLst>
          </p:cNvPr>
          <p:cNvSpPr txBox="1">
            <a:spLocks/>
          </p:cNvSpPr>
          <p:nvPr/>
        </p:nvSpPr>
        <p:spPr>
          <a:xfrm>
            <a:off x="4285075" y="1680153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/>
          </a:p>
        </p:txBody>
      </p:sp>
      <p:pic>
        <p:nvPicPr>
          <p:cNvPr id="6" name="Graphic 5" descr="Presentation with pie chart with solid fill">
            <a:extLst>
              <a:ext uri="{FF2B5EF4-FFF2-40B4-BE49-F238E27FC236}">
                <a16:creationId xmlns:a16="http://schemas.microsoft.com/office/drawing/2014/main" id="{1D5615A7-55B9-E0F5-0A84-57A35A57B0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468" y="2101175"/>
            <a:ext cx="2972979" cy="29729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6D1E5C-FB56-616C-9776-6EF59DA07045}"/>
              </a:ext>
            </a:extLst>
          </p:cNvPr>
          <p:cNvSpPr txBox="1"/>
          <p:nvPr/>
        </p:nvSpPr>
        <p:spPr>
          <a:xfrm>
            <a:off x="3818965" y="3126000"/>
            <a:ext cx="74133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/>
              <a:buNone/>
            </a:pPr>
            <a:r>
              <a:rPr lang="en-US" sz="2400" dirty="0"/>
              <a:t>&lt;Please present your results in the following slides.&gt;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1327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4E31-32FC-4A23-CEF9-98F0BB9F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334EF5D-2E2A-7FE5-06C6-01ACAB1F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845" y="383051"/>
            <a:ext cx="5833456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 JOB POSTINGS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F79416-0AFB-FC80-07E8-3CF2B4E7E798}"/>
              </a:ext>
            </a:extLst>
          </p:cNvPr>
          <p:cNvSpPr txBox="1">
            <a:spLocks/>
          </p:cNvSpPr>
          <p:nvPr/>
        </p:nvSpPr>
        <p:spPr>
          <a:xfrm>
            <a:off x="914400" y="2191385"/>
            <a:ext cx="10489276" cy="2862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200"/>
              <a:t>In Module 1 you have collected the job posting data using Job API in a file named “</a:t>
            </a:r>
            <a:r>
              <a:rPr lang="en-IN" sz="2400"/>
              <a:t>job-postings.xlsx</a:t>
            </a:r>
            <a:r>
              <a:rPr lang="en-US" sz="2200"/>
              <a:t>”. Present that data using a bar chart here. Order the bar chart in the descending order of the number of job postings.</a:t>
            </a:r>
            <a:endParaRPr lang="en-US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5373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B558-7141-B0CE-D399-712C1073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2CF5900-71B3-70B0-7CF1-4A1C535AD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536" y="383051"/>
            <a:ext cx="57087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POPULAR LANGUAGES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5B1AABA-34AF-B1F5-3C7F-11AEB9E03637}"/>
              </a:ext>
            </a:extLst>
          </p:cNvPr>
          <p:cNvSpPr txBox="1">
            <a:spLocks/>
          </p:cNvSpPr>
          <p:nvPr/>
        </p:nvSpPr>
        <p:spPr>
          <a:xfrm>
            <a:off x="878305" y="2191385"/>
            <a:ext cx="10525371" cy="2862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200"/>
              <a:t>In Module 1 you have collected the job postings data using web scraping in a file named “</a:t>
            </a:r>
            <a:r>
              <a:rPr lang="en-IN" sz="2400"/>
              <a:t>popular-languages.csv</a:t>
            </a:r>
            <a:r>
              <a:rPr lang="en-US" sz="2200"/>
              <a:t>”. Present that data using a bar chart here. Order the bar chart in the descending order of salary.</a:t>
            </a:r>
            <a:endParaRPr lang="en-US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5902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7A2E-C667-F6D3-A1E3-47F70603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39A591-4DF0-3912-FF72-3FD0BD7B9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 TRENDS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4B8C8AD-F58A-1F17-9CA2-E737E1949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4305" y="2063170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9FB3B79-D3E9-99FC-ECF2-28CCBF647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63170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DFAC5CF-1B58-ABB4-D63B-1D931D572459}"/>
              </a:ext>
            </a:extLst>
          </p:cNvPr>
          <p:cNvSpPr txBox="1">
            <a:spLocks/>
          </p:cNvSpPr>
          <p:nvPr/>
        </p:nvSpPr>
        <p:spPr>
          <a:xfrm>
            <a:off x="845473" y="2605804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&lt;Bar chart of top 10 programming languages for the current year goes here.&gt;</a:t>
            </a:r>
          </a:p>
          <a:p>
            <a:pPr marL="0" indent="0">
              <a:buNone/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BAA9DB0-9EAC-9B25-C7F3-3CE83758128E}"/>
              </a:ext>
            </a:extLst>
          </p:cNvPr>
          <p:cNvSpPr txBox="1">
            <a:spLocks/>
          </p:cNvSpPr>
          <p:nvPr/>
        </p:nvSpPr>
        <p:spPr>
          <a:xfrm>
            <a:off x="6172200" y="2605804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&lt; Bar chart of top 10 programming languages for the next year goes here.&gt;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1C5862-9AB9-9679-23B5-A950E973AFB5}"/>
              </a:ext>
            </a:extLst>
          </p:cNvPr>
          <p:cNvSpPr txBox="1"/>
          <p:nvPr/>
        </p:nvSpPr>
        <p:spPr>
          <a:xfrm>
            <a:off x="924305" y="1475244"/>
            <a:ext cx="10429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Summarize key trends shown in the charts.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84467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BF14-48B4-018D-63EE-DF24A5A8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4DA4-C4B2-2A92-8A96-C527D8D0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065" y="218209"/>
            <a:ext cx="11471562" cy="1330037"/>
          </a:xfrm>
        </p:spPr>
        <p:txBody>
          <a:bodyPr>
            <a:noAutofit/>
          </a:bodyPr>
          <a:lstStyle/>
          <a:p>
            <a:r>
              <a:rPr lang="en-US" dirty="0"/>
              <a:t>PROGRAMMING LANGUAGE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5DDBB-31B7-4F81-1E76-90009348F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Finding 1</a:t>
            </a:r>
          </a:p>
          <a:p>
            <a:r>
              <a:rPr lang="en-US" dirty="0"/>
              <a:t>Finding 2</a:t>
            </a:r>
          </a:p>
          <a:p>
            <a:r>
              <a:rPr lang="en-US" dirty="0"/>
              <a:t>Finding 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166E7F-5223-7C98-EBC0-E8FA35940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Implication 1</a:t>
            </a:r>
          </a:p>
          <a:p>
            <a:r>
              <a:rPr lang="en-US" dirty="0"/>
              <a:t>Implication 2</a:t>
            </a:r>
          </a:p>
          <a:p>
            <a:r>
              <a:rPr lang="en-US" dirty="0"/>
              <a:t>Implication 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1288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0F35-C02C-0C12-3664-049CAC5A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B430B-2D6C-26E3-5D00-4D061A25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en-US" dirty="0"/>
              <a:t>DATABASE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3FA5-2985-EAFB-8885-6820D4058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2065128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0AA0B-A66B-F896-65D9-69DDA700D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65127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4E86EFD-B801-5996-879A-7A13CF75507C}"/>
              </a:ext>
            </a:extLst>
          </p:cNvPr>
          <p:cNvSpPr txBox="1">
            <a:spLocks/>
          </p:cNvSpPr>
          <p:nvPr/>
        </p:nvSpPr>
        <p:spPr>
          <a:xfrm>
            <a:off x="813816" y="2758931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&lt; Bar chart of top 10 databases for the current year goes here &gt;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F288C39-3E30-44CF-06C3-D46763CC8E0C}"/>
              </a:ext>
            </a:extLst>
          </p:cNvPr>
          <p:cNvSpPr txBox="1">
            <a:spLocks/>
          </p:cNvSpPr>
          <p:nvPr/>
        </p:nvSpPr>
        <p:spPr>
          <a:xfrm>
            <a:off x="6172200" y="2695286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&lt; Bar chart of top 10 databases for the next year goes here.&gt;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7A0CDF-0FE0-1DE3-5B09-44D4318623B8}"/>
              </a:ext>
            </a:extLst>
          </p:cNvPr>
          <p:cNvSpPr txBox="1"/>
          <p:nvPr/>
        </p:nvSpPr>
        <p:spPr>
          <a:xfrm>
            <a:off x="881252" y="1476527"/>
            <a:ext cx="104294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Summarize key trends shown in the charts.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2887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6A9C-70D0-119E-38BE-1738DA5A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7E2B-01DB-9C21-4CF2-1586AB1C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786" y="572944"/>
            <a:ext cx="11457214" cy="975302"/>
          </a:xfrm>
        </p:spPr>
        <p:txBody>
          <a:bodyPr>
            <a:normAutofit fontScale="90000"/>
          </a:bodyPr>
          <a:lstStyle/>
          <a:p>
            <a:r>
              <a:rPr lang="en-US" dirty="0"/>
              <a:t>DATABASE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EC42F-75A2-FA08-F2B6-EB2817BBF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Finding 1</a:t>
            </a:r>
          </a:p>
          <a:p>
            <a:r>
              <a:rPr lang="en-US" dirty="0"/>
              <a:t>Finding 2</a:t>
            </a:r>
          </a:p>
          <a:p>
            <a:r>
              <a:rPr lang="en-US" dirty="0"/>
              <a:t>Finding 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7B10A-E9C3-5B71-0345-782E28BDB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Implication 1</a:t>
            </a:r>
          </a:p>
          <a:p>
            <a:r>
              <a:rPr lang="en-US" dirty="0"/>
              <a:t>Implication 2</a:t>
            </a:r>
          </a:p>
          <a:p>
            <a:r>
              <a:rPr lang="en-US" dirty="0"/>
              <a:t>Implication 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8125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291F-E27C-74F8-33D3-FF131FC9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7D73-872E-CFE8-1C38-8422F3838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64183-B387-01E7-21BA-4DA6B1F51815}"/>
              </a:ext>
            </a:extLst>
          </p:cNvPr>
          <p:cNvSpPr txBox="1">
            <a:spLocks/>
          </p:cNvSpPr>
          <p:nvPr/>
        </p:nvSpPr>
        <p:spPr>
          <a:xfrm>
            <a:off x="4285075" y="3142210"/>
            <a:ext cx="7068725" cy="25692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200" dirty="0"/>
              <a:t>&lt;Please present your dashboard in the following slides.&gt;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822F7-4A79-5E92-9C6D-8A9769182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75" y="1901819"/>
            <a:ext cx="3054361" cy="30543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5219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F0CA-55D1-0835-20D4-03D017A1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3914-A678-A34E-C52A-16D0ADAA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582" y="365125"/>
            <a:ext cx="11087100" cy="985693"/>
          </a:xfrm>
        </p:spPr>
        <p:txBody>
          <a:bodyPr anchor="ctr">
            <a:noAutofit/>
          </a:bodyPr>
          <a:lstStyle/>
          <a:p>
            <a:r>
              <a:rPr lang="en-US" dirty="0"/>
              <a:t>DASHBOARD TAB 1: Current Technology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6FB03-F857-3EC0-249E-AE03F39150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Screenshot of dashboard tab 1 goes here</a:t>
            </a:r>
          </a:p>
          <a:p>
            <a:r>
              <a:rPr lang="en-US" dirty="0"/>
              <a:t>Dashboard Insight</a:t>
            </a:r>
          </a:p>
          <a:p>
            <a:r>
              <a:rPr lang="en-US" dirty="0"/>
              <a:t>Summarize key insights shown</a:t>
            </a:r>
          </a:p>
          <a:p>
            <a:pPr marL="0" indent="0">
              <a:buNone/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29736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F23D-B8D7-D0E4-EDC5-E0F02388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933A-3681-3D82-68EF-62EC0782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364" y="531380"/>
            <a:ext cx="11055926" cy="1016866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DASHBOARD TAB 2: Future Technology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60BF9-AB8D-4916-3BC9-E2E92E0872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Screenshot of dashboard tab 2 goes here</a:t>
            </a:r>
          </a:p>
          <a:p>
            <a:r>
              <a:rPr lang="en-US" dirty="0"/>
              <a:t>Dashboard Insight</a:t>
            </a:r>
          </a:p>
          <a:p>
            <a:r>
              <a:rPr lang="en-US" dirty="0"/>
              <a:t>Summarize future trends.</a:t>
            </a:r>
          </a:p>
          <a:p>
            <a:pPr marL="0" indent="0">
              <a:buNone/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8496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A10D3-267F-7A90-5160-775BFEBC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0C82-5F1A-F7B1-2C56-5C08240C1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DASHBOARD TAB 3: Demographics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61A98-8DF3-E66E-19C4-7D7642551E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Screenshot of dashboard tab 3 goes here</a:t>
            </a:r>
          </a:p>
          <a:p>
            <a:r>
              <a:rPr lang="en-US" dirty="0"/>
              <a:t>Dashboard Insight</a:t>
            </a:r>
          </a:p>
          <a:p>
            <a:r>
              <a:rPr lang="en-IN" dirty="0"/>
              <a:t>Summarize demographic insights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5636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2C0A-56EF-B349-A097-27B4D460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8769-531F-C6A5-406F-D1C3D2805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DISCUSSION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F45ECC1-C956-CADF-DDFD-F54C6608E4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43282" y="2348628"/>
            <a:ext cx="3054361" cy="3054361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7EF50-003F-6BB0-4367-42BB884C7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81155" y="1825625"/>
            <a:ext cx="6272645" cy="4351338"/>
          </a:xfrm>
        </p:spPr>
        <p:txBody>
          <a:bodyPr/>
          <a:lstStyle/>
          <a:p>
            <a:r>
              <a:rPr lang="en-US" dirty="0"/>
              <a:t>Discuss overall insights derived from dashboards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7333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5330-0589-A550-601A-037CA416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8902-AF46-DDE8-D792-7940E18A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6B89C-35B9-C514-4E9C-FCBE8D68D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Finding 1</a:t>
            </a:r>
          </a:p>
          <a:p>
            <a:r>
              <a:rPr lang="en-US" dirty="0"/>
              <a:t>Finding 2</a:t>
            </a:r>
          </a:p>
          <a:p>
            <a:r>
              <a:rPr lang="en-US" dirty="0"/>
              <a:t>Finding 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BBA5A-826D-FFFD-F1BE-92269842D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Implication 1</a:t>
            </a:r>
          </a:p>
          <a:p>
            <a:r>
              <a:rPr lang="en-US" dirty="0"/>
              <a:t>Implication 2</a:t>
            </a:r>
          </a:p>
          <a:p>
            <a:r>
              <a:rPr lang="en-US" dirty="0"/>
              <a:t>Implication 3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56372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A16F-6AB5-5C0B-5466-65B2A6AE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E978FF3-BC93-079A-1687-DD4786B81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CONCLUSION</a:t>
            </a:r>
          </a:p>
        </p:txBody>
      </p:sp>
      <p:pic>
        <p:nvPicPr>
          <p:cNvPr id="13" name="Content Placeholder 5">
            <a:extLst>
              <a:ext uri="{FF2B5EF4-FFF2-40B4-BE49-F238E27FC236}">
                <a16:creationId xmlns:a16="http://schemas.microsoft.com/office/drawing/2014/main" id="{CD985AE9-0D12-3398-B9B7-4395CABF17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25967" y="2113896"/>
            <a:ext cx="3054361" cy="3054361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E75918E-509D-16F8-F478-FA41759FEFE9}"/>
              </a:ext>
            </a:extLst>
          </p:cNvPr>
          <p:cNvSpPr txBox="1">
            <a:spLocks/>
          </p:cNvSpPr>
          <p:nvPr/>
        </p:nvSpPr>
        <p:spPr>
          <a:xfrm>
            <a:off x="4544291" y="1825625"/>
            <a:ext cx="68095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Point 1</a:t>
            </a:r>
          </a:p>
          <a:p>
            <a:r>
              <a:rPr lang="en-US"/>
              <a:t>Point 2</a:t>
            </a:r>
          </a:p>
          <a:p>
            <a:r>
              <a:rPr lang="en-US"/>
              <a:t>Point 3</a:t>
            </a:r>
          </a:p>
          <a:p>
            <a:r>
              <a:rPr lang="en-US"/>
              <a:t>Point 4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03782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1598F-DBE3-7B78-D1F9-0BA7F7DC7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A3B939-6057-23B6-25B3-E33A2D205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APPENDIX</a:t>
            </a:r>
          </a:p>
        </p:txBody>
      </p:sp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E8E550E5-7A15-A106-D083-8C1433A790A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55857" y="1849823"/>
            <a:ext cx="3194581" cy="3194581"/>
          </a:xfrm>
          <a:prstGeom prst="rect">
            <a:avLst/>
          </a:prstGeom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E40FF55-AE57-CB43-454D-CEFBE080CE8E}"/>
              </a:ext>
            </a:extLst>
          </p:cNvPr>
          <p:cNvSpPr txBox="1">
            <a:spLocks/>
          </p:cNvSpPr>
          <p:nvPr/>
        </p:nvSpPr>
        <p:spPr>
          <a:xfrm>
            <a:off x="4544291" y="1825625"/>
            <a:ext cx="68095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Include any relevant additional charts, or tables that you may have created during the analysis phase.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01586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"/>
  <p:tag name="ARTICULATE_DESIGN_ID_SLIDE_TEMPLATE_SKILL_NETWORK" val="762xjmeN"/>
  <p:tag name="ARTICULATE_DESIGN_ID_IBM DEVELOPER 2018 WHITE BACKGROUND" val="AcyDFp8V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Skills Network PPT Template 01.2023.pptx" id="{565886F7-76CC-4370-877F-2511E1EB1B28}" vid="{AD061E48-3596-4052-9172-46F1919207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5445547-4CD8-432E-8B58-E443FD17F88F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9" ma:contentTypeDescription="Create a new document." ma:contentTypeScope="" ma:versionID="d7279d4efbac013e02c1e816bc7f7c13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0a3fd1dbe83fc08387abb87098562ef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AWB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bfc8dc1-ab14-4a6b-8a4a-9f7f0b948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WBlink" ma:index="25" nillable="true" ma:displayName="AWB link" ma:description="Author Workbench link" ma:format="Dropdown" ma:internalName="AWBlink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2edd55d-11a0-43df-8094-42adcb6055ca}" ma:internalName="TaxCatchAll" ma:showField="CatchAllData" ma:web="f80a141d-92ca-4d3d-9308-f7e7b1d44c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be751-a274-42e8-93fb-f39d3b9bccc8">
      <Terms xmlns="http://schemas.microsoft.com/office/infopath/2007/PartnerControls"/>
    </lcf76f155ced4ddcb4097134ff3c332f>
    <TaxCatchAll xmlns="f80a141d-92ca-4d3d-9308-f7e7b1d44ce8" xsi:nil="true"/>
    <AWBlink xmlns="155be751-a274-42e8-93fb-f39d3b9bccc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AB06F8-DBB4-44C7-AF84-8B098C8B0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4DA07C5-A406-4A0D-B3E6-3856C94AC7F3}">
  <ds:schemaRefs>
    <ds:schemaRef ds:uri="155be751-a274-42e8-93fb-f39d3b9bccc8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f80a141d-92ca-4d3d-9308-f7e7b1d44ce8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</TotalTime>
  <Words>432</Words>
  <Application>Microsoft Office PowerPoint</Application>
  <PresentationFormat>Widescreen</PresentationFormat>
  <Paragraphs>117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Helv</vt:lpstr>
      <vt:lpstr>IBM Plex Mono</vt:lpstr>
      <vt:lpstr>IBM Plex Mono Medium</vt:lpstr>
      <vt:lpstr>IBM Plex Sans</vt:lpstr>
      <vt:lpstr>IBM Plex Sans SemiBold</vt:lpstr>
      <vt:lpstr>SLIDE_TEMPLATE_skill_network</vt:lpstr>
      <vt:lpstr>Title</vt:lpstr>
      <vt:lpstr>PowerPoint Presentation</vt:lpstr>
      <vt:lpstr>EXECUTIVE SUMMARY</vt:lpstr>
      <vt:lpstr>INTRODUCTION</vt:lpstr>
      <vt:lpstr>METHODOLOGY</vt:lpstr>
      <vt:lpstr>Results</vt:lpstr>
      <vt:lpstr> JOB POSTINGS</vt:lpstr>
      <vt:lpstr>POPULAR LANGUAGES</vt:lpstr>
      <vt:lpstr>PROGRAMMING LANGUAGE TRENDS</vt:lpstr>
      <vt:lpstr>PROGRAMMING LANGUAGE TRENDS - FINDINGS &amp; IMPLICATIONS</vt:lpstr>
      <vt:lpstr>DATABASE TRENDS</vt:lpstr>
      <vt:lpstr>DATABASE TRENDS - FINDINGS &amp; IMPLICATIONS</vt:lpstr>
      <vt:lpstr>DASHBOARD</vt:lpstr>
      <vt:lpstr>DASHBOARD TAB 1: Current Technology Usage</vt:lpstr>
      <vt:lpstr>DASHBOARD TAB 2: Future Technology Trends</vt:lpstr>
      <vt:lpstr>DASHBOARD TAB 3: Demographics</vt:lpstr>
      <vt:lpstr>DISCUSSION</vt:lpstr>
      <vt:lpstr>OVERALL FINDINGS &amp; IMPLICATIONS</vt:lpstr>
      <vt:lpstr>CONCLUSION</vt:lpstr>
      <vt:lpstr>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Tori Sleeper</dc:creator>
  <cp:lastModifiedBy>pratiksha verma</cp:lastModifiedBy>
  <cp:revision>5</cp:revision>
  <dcterms:created xsi:type="dcterms:W3CDTF">2024-10-30T05:40:03Z</dcterms:created>
  <dcterms:modified xsi:type="dcterms:W3CDTF">2026-01-15T06:53:23Z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MediaServiceImageTags">
    <vt:lpwstr/>
  </property>
  <property fmtid="{D5CDD505-2E9C-101B-9397-08002B2CF9AE}" pid="4" name="ArticulateGUID">
    <vt:lpwstr>07C438A6-8092-445C-AC0D-AE1422093206</vt:lpwstr>
  </property>
  <property fmtid="{D5CDD505-2E9C-101B-9397-08002B2CF9AE}" pid="5" name="ArticulatePath">
    <vt:lpwstr>https://skilluptech.sharepoint.com/sites/Coursera/Shared Documents/General/PPT template/IBM Skills Network PPT Template 01.2023</vt:lpwstr>
  </property>
</Properties>
</file>